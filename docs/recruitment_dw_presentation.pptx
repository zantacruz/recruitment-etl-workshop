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audience. State the project in one sentence: an end-to-end ETL pipeline and dimensional Data Warehouse built from a real recruitment dataset, analyzed in Power BI. Introduce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agenda at a glance — don't read every line, just orient the audience to the arc of the talk: business first, then data, then the technical build, then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objective in your own words. Emphasize this is a real recruitment company scenario: thousands of applications, two scores per candidate, and a business need to turn a flat file into an analytical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five requirements are the backbone of the entire project — every dimension, measure, and query traces back to one of them. Read each one briefly; you'll refer back to R1-R5 for the rest of the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orientation to the source data before diving into profiling. Note this is the original, unmodified file — nothing was changed at the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duplicate-email decision — it's a meaningful design choice, not an oversight: each row is an application, not a candidate, so duplicates are kept. Then introduce the HIRED business rule, which everything downstream depends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star schema: one fact table at the grain of a single application, four dimensions (Date, Technology, Seniority, Country). Mention that YOE was deliberately kept as a fact attribute rather than its own dimension, to avoid an unnecessary low-value dimension.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through the pipeline. Emphasize the load order — dimensions before the fact table — and that the HIRED rule lives in Transform, not Extract, keeping raw ingestion separate from business logic.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proof the pipeline actually ran end-to-end against a real PostgreSQL database, not just in theory. The 0 orphaned rows is the key number — it means referential integrity holds across all 50,000 facts.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real screenshot from Power BI, connected directly to PostgreSQL. Point out the oscillation without trend — the takeaway is stability, not growth or decline.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Careful with this one — it's tempting to read 'tallest bar wins,' but the real insight is that volume and conversion rate are different things. Make that distinction explicit for the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probably the most counter-intuitive finding of the whole project — more experience does not mean a better outcome. Give the audience a second to absorb it before moving to the recommendation.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synthesis slide — connect every finding to a concrete action. Left side is what the data shows; right side is what the business should do about it. End on the recommendations, not just the findings.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open the floor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20624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5120640"/>
            <a:ext cx="3108960" cy="310896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RECRUITMENT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Warehouse &amp; Business Intelligence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118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ETL project: from business requirements to a dimensional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in PostgreSQL, analyzed with Power BI.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760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Workshop 1 — Group G01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080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Izquierdo Bonilla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0020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 &amp; Requirements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0" y="160020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160020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Data Profiling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65176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265176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 Model (Star Schema)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265176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0" y="265176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265176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 &amp; Data Warehouse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370332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70332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Results (R1–R5)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172200" y="370332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0" y="370332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370332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Visualizations in Power BI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475488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475488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1600200" y="475488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Recommendations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Data Warehouse — ETL Workshop 1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 &amp; Business Context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6400800" cy="4480560"/>
          </a:xfrm>
          <a:prstGeom prst="roundRect">
            <a:avLst>
              <a:gd name="adj" fmla="val 1633"/>
            </a:avLst>
          </a:prstGeom>
          <a:solidFill>
            <a:srgbClr val="21295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8288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240280"/>
            <a:ext cx="5760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a dimensional Data Warehouse that lets a tech recruitment company analyze its candidate selection process: hiring trends over time, performance by technology, by candidate profile (seniority and experience), and by country of origin.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402336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covers the full flow: business requirements → data profiling → dimensional modeling → ETL → PostgreSQL Data Warehouse → analytical queries → Power BI visualization.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1554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Context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223760" y="210312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22376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635240" y="205740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applications from candidates with different profiles, experience levels, countries, and technical specialties.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223760" y="342900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223760" y="3429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635240" y="338328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candidate is evaluated with two scores: Code Challenge Score and Technical Interview Score.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223760" y="475488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223760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635240" y="470916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currently lives in a flat file — the organization needs an analytical system to understand hiring patterns.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Data Warehouse — ETL Workshop 1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Business Requirements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this project traces back to R1–R5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39696" cy="4206240"/>
          </a:xfrm>
          <a:prstGeom prst="roundRect">
            <a:avLst>
              <a:gd name="adj" fmla="val 3419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87452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06040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Trends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429000"/>
            <a:ext cx="186537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hiring rate evolve month by month?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825496" y="1691640"/>
            <a:ext cx="2139696" cy="4206240"/>
          </a:xfrm>
          <a:prstGeom prst="roundRect">
            <a:avLst>
              <a:gd name="adj" fmla="val 3419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962656" y="187452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962656" y="2606040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Analysis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962656" y="3429000"/>
            <a:ext cx="186537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technologies generate the most hired candidates?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102352" y="1691640"/>
            <a:ext cx="2139696" cy="4206240"/>
          </a:xfrm>
          <a:prstGeom prst="roundRect">
            <a:avLst>
              <a:gd name="adj" fmla="val 3419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239512" y="187452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5239512" y="2606040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Profile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239512" y="3429000"/>
            <a:ext cx="186537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outcomes vary by seniority and experience?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79208" y="1691640"/>
            <a:ext cx="2139696" cy="4206240"/>
          </a:xfrm>
          <a:prstGeom prst="roundRect">
            <a:avLst>
              <a:gd name="adj" fmla="val 3419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516368" y="187452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R4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516368" y="2606040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vs. Outcome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516368" y="3429000"/>
            <a:ext cx="186537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a seniority level, does more YOE help?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656064" y="1691640"/>
            <a:ext cx="2139696" cy="4206240"/>
          </a:xfrm>
          <a:prstGeom prst="roundRect">
            <a:avLst>
              <a:gd name="adj" fmla="val 3419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793224" y="187452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R5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9793224" y="2606040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Analysis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793224" y="3429000"/>
            <a:ext cx="186537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countries drive volume and hiring rate?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Data Warehouse — ETL Workshop 1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data/raw/candidates.csv — original file, unmodified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4F7F9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50,000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51960" y="16916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4F7F9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51960" y="19202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251960" y="27889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55280" y="16916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4F7F9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0" y="19202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27889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Values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4F7F9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02336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244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8920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251960" y="37947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4F7F9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51960" y="402336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4251960" y="48920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955280" y="37947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4F7F9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55280" y="402336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0" y="48920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Seniority Levels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Data Warehouse — ETL Workshop 1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from Data Profiling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notebooks/data_profiling.ipynb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562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data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exact duplicate rows and no null values across all 50,000 rows.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18562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 applicants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28600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 duplicate emails — candidates who applied more than once. All rows are kept: the grain is the application, not the candidate.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1879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span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61772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Date ranges from 2018-01-01 to 2022-07-04 (~4.5 years).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402336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41879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HIRED rule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461772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HIRED = (Code Challenge Score ≥ 7) AND (Technical Interview Score ≥ 7). Applied to all 50,000 rows, 6,698 applications (13.4%) qualify as HIRED.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Data Warehouse — ETL Workshop 1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Dimensional Model — Star Schema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fact table, four dimensions, five business requirements covered</a:t>
            </a:r>
            <a:endParaRPr lang="en-US" sz="1400" dirty="0"/>
          </a:p>
        </p:txBody>
      </p:sp>
      <p:pic>
        <p:nvPicPr>
          <p:cNvPr id="4" name="Image 0" descr="star_schema_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828800"/>
            <a:ext cx="10058400" cy="507279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Data Warehouse — ETL Workshop 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Pipeline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src/main.py orchestrates the full 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874520" cy="146304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5146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46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src/extract.py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23160" y="2880360"/>
            <a:ext cx="320040" cy="457200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0" y="2377440"/>
            <a:ext cx="1874520" cy="1463040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34640" y="25146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3246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src/transform.py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17720" y="2880360"/>
            <a:ext cx="320040" cy="457200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12" name="Shape 10"/>
          <p:cNvSpPr/>
          <p:nvPr/>
        </p:nvSpPr>
        <p:spPr>
          <a:xfrm>
            <a:off x="4937760" y="2377440"/>
            <a:ext cx="1874520" cy="146304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0" y="25146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3246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src/dimensional_model.py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12280" y="2880360"/>
            <a:ext cx="320040" cy="457200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16" name="Shape 14"/>
          <p:cNvSpPr/>
          <p:nvPr/>
        </p:nvSpPr>
        <p:spPr>
          <a:xfrm>
            <a:off x="7132320" y="2377440"/>
            <a:ext cx="1874520" cy="1463040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23760" y="25146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3246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src/load.py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006840" y="2880360"/>
            <a:ext cx="320040" cy="457200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20" name="Shape 18"/>
          <p:cNvSpPr/>
          <p:nvPr/>
        </p:nvSpPr>
        <p:spPr>
          <a:xfrm>
            <a:off x="9326880" y="2377440"/>
            <a:ext cx="1874520" cy="1463040"/>
          </a:xfrm>
          <a:prstGeom prst="roundRect">
            <a:avLst>
              <a:gd name="adj" fmla="val 5000"/>
            </a:avLst>
          </a:prstGeom>
          <a:solidFill>
            <a:srgbClr val="21295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18320" y="25146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WAREHOUSE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418320" y="3246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3434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one way, in order — dimensions are always loaded before the fact table, so foreign keys never break: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DimDate → DimTechnology → DimSeniority → DimCountry → FactApplication (50,000 rows).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HIRED business rule is applied in the Transform stage — not in Extract — keeping business logic separate from raw ingestion.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Data Warehouse — ETL Workshop 1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Warehouse Load — Validated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and verified against a real PostgreSQL instance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139696" cy="1920240"/>
          </a:xfrm>
          <a:prstGeom prst="roundRect">
            <a:avLst>
              <a:gd name="adj" fmla="val 3810"/>
            </a:avLst>
          </a:prstGeom>
          <a:solidFill>
            <a:srgbClr val="F4F7F9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965960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1,646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DimDate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825496" y="1737360"/>
            <a:ext cx="2139696" cy="1920240"/>
          </a:xfrm>
          <a:prstGeom prst="roundRect">
            <a:avLst>
              <a:gd name="adj" fmla="val 3810"/>
            </a:avLst>
          </a:prstGeom>
          <a:solidFill>
            <a:srgbClr val="F4F7F9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25496" y="1965960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2825496" y="2788920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DimTechnology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102352" y="1737360"/>
            <a:ext cx="2139696" cy="1920240"/>
          </a:xfrm>
          <a:prstGeom prst="roundRect">
            <a:avLst>
              <a:gd name="adj" fmla="val 3810"/>
            </a:avLst>
          </a:prstGeom>
          <a:solidFill>
            <a:srgbClr val="F4F7F9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02352" y="1965960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5102352" y="2788920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DimSeniority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79208" y="1737360"/>
            <a:ext cx="2139696" cy="1920240"/>
          </a:xfrm>
          <a:prstGeom prst="roundRect">
            <a:avLst>
              <a:gd name="adj" fmla="val 3810"/>
            </a:avLst>
          </a:prstGeom>
          <a:solidFill>
            <a:srgbClr val="F4F7F9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79208" y="1965960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244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7379208" y="2788920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DimCountry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656064" y="1737360"/>
            <a:ext cx="2139696" cy="1920240"/>
          </a:xfrm>
          <a:prstGeom prst="roundRect">
            <a:avLst>
              <a:gd name="adj" fmla="val 3810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56064" y="1965960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50,000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9656064" y="2788920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FactApplication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065A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42245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Integrity check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461772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join across FactApplication and all four dimensions found 0 orphaned rows — every application correctly resolves to a valid date, technology, seniority, and country. create_tables.sql and analytical_queries.sql ran unmodified against the live PostgreSQL database (recruitment_dw).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Data Warehouse — ETL Workshop 1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 — Monthly Hiring Trend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visualization, built in Power BI from the live Data Warehouse</a:t>
            </a:r>
            <a:endParaRPr lang="en-US" sz="1400" dirty="0"/>
          </a:p>
        </p:txBody>
      </p:sp>
      <p:pic>
        <p:nvPicPr>
          <p:cNvPr id="4" name="Image 0" descr="r1_tempo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7315200" cy="3329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0" y="1783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2057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Hire Rate %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2697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297180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rate oscillates between 11.5% and 17%, in short cycles, with no sustained growth or decline over 4.5 years.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4434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takeaway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229600" y="470916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hiring process has stayed stable over time — no seasonal or long-term pattern to react to.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Data Warehouse — ETL Workshop 1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 — Candidates Hired by Technology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visualization across 24 technology categories</a:t>
            </a:r>
            <a:endParaRPr lang="en-US" sz="1400" dirty="0"/>
          </a:p>
        </p:txBody>
      </p:sp>
      <p:pic>
        <p:nvPicPr>
          <p:cNvPr id="4" name="Image 0" descr="r2_comparativ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91640"/>
            <a:ext cx="5001077" cy="4297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852160" y="17830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852160" y="20574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Hired by Technology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852160" y="26974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852160" y="2971800"/>
            <a:ext cx="5760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Development and DevOps lead in absolute hires — but that tracks their higher application volume, not a better conversion rate. The hiring rate is similar across all technologies (~13-15%).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852160" y="46177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takeaway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852160" y="489204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decisions should weigh conversion rate, not just raw applicant volume.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Data Warehouse — ETL Workshop 1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R4 — Experience vs. Seniority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more experience (YOE) improve outcomes within the same seniority level?</a:t>
            </a:r>
            <a:endParaRPr lang="en-US" sz="1400" dirty="0"/>
          </a:p>
        </p:txBody>
      </p:sp>
      <p:pic>
        <p:nvPicPr>
          <p:cNvPr id="4" name="Image 0" descr="r4_experienc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7315200" cy="32283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0" y="1828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2103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Hire Rate by YOE Range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2743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301752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every seniority level, the 0-5, 6-15, and 16+ year bars are nearly identical (12-16%).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4206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takeaway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229600" y="448056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YOE is not a reliable predictor of hiring success — using it as a hard pre-screening filter should be reconsidered.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Data Warehouse — ETL Workshop 1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&amp; Recommendations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828800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hiring rate: 13.4% — stable across time, technology, seniority, and country.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3154680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Seniority and YOE show no clear link to hiring outcome — the evaluation process behaves independently of these declared attributes.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52628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4480560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technology or country dominates application volume — the candidate base is diversified.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1371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182880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065A82">
              <a:alpha val="8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1938528"/>
            <a:ext cx="4846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sourcing investment in technologies with better conversion, not just higher volume (R2).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09360" y="315468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065A82">
              <a:alpha val="80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3264408"/>
            <a:ext cx="4846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Reconsider YOE and seniority as hard pre-screening filters, since neither predicts the hiring outcome (R3, R4).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09360" y="448056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065A82">
              <a:alpha val="80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37960" y="4590288"/>
            <a:ext cx="4846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country-level volume and hiring rate to guide where to strengthen recruitment presence (R5).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Data Warehouse — ETL Workshop 1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548640"/>
            <a:ext cx="2743200" cy="274320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611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Izquierdo Bonilla  |  ETL Workshop 1 — Group G01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2026-09-03T01:39:44Z</dcterms:created>
  <dcterms:modified xsi:type="dcterms:W3CDTF">2026-09-03T01:39:44Z</dcterms:modified>
</cp:coreProperties>
</file>